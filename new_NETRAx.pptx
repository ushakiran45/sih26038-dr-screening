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-3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file/d/1kUqp8W93R44LjfiwAhRl6GUbXzJ3VPue/view?usp=drivesdk" TargetMode="External"/><Relationship Id="rId4" Type="http://schemas.openxmlformats.org/officeDocument/2006/relationships/hyperlink" Target="https://ushakiran45.github.io/SIH26038-DR-Screenin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13129861/?utm_source=chatgpt.com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competitions/aptos2019-blindness-detection?utm_source=chatgpt.com" TargetMode="External"/><Relationship Id="rId5" Type="http://schemas.openxmlformats.org/officeDocument/2006/relationships/hyperlink" Target="https://www.mdpi.com/2306-5729/3/3/25?utm_source=chatgpt.com" TargetMode="External"/><Relationship Id="rId4" Type="http://schemas.openxmlformats.org/officeDocument/2006/relationships/hyperlink" Target="https://openaccess.thecvf.com/content_iccv_2017/html/Selvaraju_Grad-CAM_Visual_Explanations_ICCV_2017_paper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78012" y="2561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63488"/>
            <a:ext cx="628662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SIH26133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Explainable AI for Diabetic Retinopathy Screening in Rural India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 / BioTech / HealthTech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ID- 174884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Vital 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NetraXAI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143000"/>
            <a:ext cx="12191998" cy="4001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The problem</a:t>
            </a:r>
            <a:br>
              <a:rPr lang="en-IN" dirty="0"/>
            </a:br>
            <a:r>
              <a:rPr lang="en-IN" dirty="0"/>
              <a:t>Frontline screening needs usable retinal images, clear severity assessment, and a practical route to specialist review.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Our solution</a:t>
            </a:r>
            <a:br>
              <a:rPr lang="en-IN" dirty="0"/>
            </a:br>
            <a:r>
              <a:rPr lang="en-IN" dirty="0" err="1"/>
              <a:t>NetraXAI</a:t>
            </a:r>
            <a:r>
              <a:rPr lang="en-IN" dirty="0"/>
              <a:t> is designed to analyse retinal fundus images, predict DR severity, and present visual explanations for a doctor’s review.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Core features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Severity prediction:</a:t>
            </a:r>
            <a:r>
              <a:rPr lang="en-IN" dirty="0"/>
              <a:t> Classify images into five DR grades.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Image quality check:</a:t>
            </a:r>
            <a:r>
              <a:rPr lang="en-IN" dirty="0"/>
              <a:t> Flag unsuitable images for recapture.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Explainability:</a:t>
            </a:r>
            <a:r>
              <a:rPr lang="en-IN" dirty="0"/>
              <a:t> Highlight regions influencing the prediction.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Screening report:</a:t>
            </a:r>
            <a:r>
              <a:rPr lang="en-IN" dirty="0"/>
              <a:t> Combine the result and visual evidence for review.</a:t>
            </a:r>
          </a:p>
          <a:p>
            <a:pPr lvl="1"/>
            <a:endParaRPr lang="en-IN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Vital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340606-6A08-2315-6652-A7B56FE64B98}"/>
              </a:ext>
            </a:extLst>
          </p:cNvPr>
          <p:cNvSpPr txBox="1"/>
          <p:nvPr/>
        </p:nvSpPr>
        <p:spPr>
          <a:xfrm>
            <a:off x="164826" y="4944040"/>
            <a:ext cx="11417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PROTOTYPE LINK: </a:t>
            </a:r>
            <a:r>
              <a:rPr lang="en-IN" sz="2000" b="1" dirty="0">
                <a:hlinkClick r:id="rId4"/>
              </a:rPr>
              <a:t>https://ushakiran45.github.io/SIH26038-DR-Screening/</a:t>
            </a:r>
            <a:endParaRPr lang="en-IN" sz="2000" b="1" dirty="0"/>
          </a:p>
          <a:p>
            <a:r>
              <a:rPr lang="en-IN" sz="2000" b="1" dirty="0"/>
              <a:t>WORKING: </a:t>
            </a:r>
            <a:r>
              <a:rPr lang="en-IN" sz="2000" dirty="0">
                <a:hlinkClick r:id="rId5"/>
              </a:rPr>
              <a:t>Working video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65160"/>
            <a:ext cx="1107141" cy="4335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Vital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656" y="1501"/>
            <a:ext cx="1710279" cy="8075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CC200CF-F4F2-D4AD-937D-28878CC42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61" y="837050"/>
            <a:ext cx="11704174" cy="2955304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B58C1C9-331F-198B-F3BA-7B60E5BEF7A7}"/>
              </a:ext>
            </a:extLst>
          </p:cNvPr>
          <p:cNvSpPr/>
          <p:nvPr/>
        </p:nvSpPr>
        <p:spPr>
          <a:xfrm>
            <a:off x="609600" y="4153867"/>
            <a:ext cx="5083629" cy="19836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Current implementation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PyTorch</a:t>
            </a:r>
            <a:r>
              <a:rPr lang="en-IN" dirty="0"/>
              <a:t> model checkpoint available.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Five severity categories: No DR, Mild, Moderate, Severe, Proliferative.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Reported evaluation results available for 550 images.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21B289B-13DA-EF01-3890-20A4C61BEE89}"/>
              </a:ext>
            </a:extLst>
          </p:cNvPr>
          <p:cNvSpPr/>
          <p:nvPr/>
        </p:nvSpPr>
        <p:spPr>
          <a:xfrm>
            <a:off x="6498773" y="4153866"/>
            <a:ext cx="5083629" cy="19836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Next integration steps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 image quality assessment and Grad-CAM visualisation.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Build a screening interface and downloadable report.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Evaluate MATLAB and Simulink workflow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3573" y="154275"/>
            <a:ext cx="1251857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Vital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839ED4-6D28-D5FE-5D41-17072C818CA8}"/>
              </a:ext>
            </a:extLst>
          </p:cNvPr>
          <p:cNvSpPr/>
          <p:nvPr/>
        </p:nvSpPr>
        <p:spPr>
          <a:xfrm>
            <a:off x="845400" y="1051834"/>
            <a:ext cx="4691743" cy="238397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Technical feasibility</a:t>
            </a:r>
            <a:endParaRPr lang="en-IN" sz="20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Existing five-class DR model with reported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84.36% accuracy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0.8949 quadratic weighted kappa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on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550 images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checkpoint available for integration into a screening interface.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Next steps: image quality checks, visual explanations, and report generation.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B20E05-D285-C768-5FC9-A08CA1D2D294}"/>
              </a:ext>
            </a:extLst>
          </p:cNvPr>
          <p:cNvSpPr/>
          <p:nvPr/>
        </p:nvSpPr>
        <p:spPr>
          <a:xfrm>
            <a:off x="6213900" y="1063837"/>
            <a:ext cx="4691743" cy="238397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Practical viability</a:t>
            </a:r>
          </a:p>
          <a:p>
            <a:pPr lvl="0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Designed to support screening at primary health centres with access to a fundus camera.</a:t>
            </a:r>
          </a:p>
          <a:p>
            <a:pPr lvl="0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Proposed workflow keeps doctors involved in reviewing results and referral decisions.</a:t>
            </a:r>
          </a:p>
          <a:p>
            <a:pPr lvl="0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Deployment requires testing on local images and intended hardware.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E7FAB-C372-92DE-8A3B-13CF65E2E04B}"/>
              </a:ext>
            </a:extLst>
          </p:cNvPr>
          <p:cNvSpPr txBox="1"/>
          <p:nvPr/>
        </p:nvSpPr>
        <p:spPr>
          <a:xfrm>
            <a:off x="751114" y="3859156"/>
            <a:ext cx="11440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Severe-class recall</a:t>
            </a:r>
            <a:br>
              <a:rPr lang="en-IN" sz="2000" dirty="0"/>
            </a:br>
            <a:r>
              <a:rPr lang="en-IN" sz="2000" dirty="0"/>
              <a:t>Current recall is </a:t>
            </a:r>
            <a:r>
              <a:rPr lang="en-IN" sz="2000" b="1" dirty="0"/>
              <a:t>31%</a:t>
            </a:r>
            <a:r>
              <a:rPr lang="en-IN" sz="2000" dirty="0"/>
              <a:t>, requiring further error analysis and model improvement.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Image quality</a:t>
            </a:r>
            <a:br>
              <a:rPr lang="en-IN" sz="2000" dirty="0"/>
            </a:br>
            <a:r>
              <a:rPr lang="en-IN" sz="2000" dirty="0"/>
              <a:t>Blur, illumination and capture quality may affect screening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Camera &amp; location variation</a:t>
            </a:r>
            <a:br>
              <a:rPr lang="en-IN" sz="2000" dirty="0"/>
            </a:br>
            <a:r>
              <a:rPr lang="en-IN" sz="2000" dirty="0"/>
              <a:t>Performance needs validation across different cameras and local datasets.</a:t>
            </a:r>
          </a:p>
          <a:p>
            <a:endParaRPr lang="en-IN" sz="2000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8133"/>
            <a:ext cx="1161570" cy="3900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Vital 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286" y="1501"/>
            <a:ext cx="1960649" cy="925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990384-D832-AC42-066A-5E52CF23B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799" y="927283"/>
            <a:ext cx="9448801" cy="4257153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1CCEBB-4527-23EE-3B75-90976DD89F7E}"/>
              </a:ext>
            </a:extLst>
          </p:cNvPr>
          <p:cNvSpPr/>
          <p:nvPr/>
        </p:nvSpPr>
        <p:spPr>
          <a:xfrm>
            <a:off x="2177142" y="5442857"/>
            <a:ext cx="8392887" cy="71648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2"/>
                </a:solidFill>
              </a:rPr>
              <a:t>Expected impact:</a:t>
            </a:r>
            <a:r>
              <a:rPr lang="en-IN" sz="2000" dirty="0">
                <a:solidFill>
                  <a:schemeClr val="tx2"/>
                </a:solidFill>
              </a:rPr>
              <a:t>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Improve access to DR screening and support timely care in underserved areas.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7415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900000"/>
            <a:ext cx="112776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Wilkinson et al. (2003) — International Clinical DR Severity Scale</a:t>
            </a:r>
            <a:br>
              <a:rPr lang="en-IN" dirty="0"/>
            </a:br>
            <a:r>
              <a:rPr lang="en-IN" dirty="0"/>
              <a:t>Clinical basis for the five severity categories.</a:t>
            </a:r>
            <a:br>
              <a:rPr lang="en-IN" dirty="0"/>
            </a:br>
            <a:r>
              <a:rPr lang="en-IN" dirty="0">
                <a:hlinkClick r:id="rId3"/>
              </a:rPr>
              <a:t>Research paper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Selvaraju et al. (2017) — Grad-CAM</a:t>
            </a:r>
            <a:br>
              <a:rPr lang="en-IN" dirty="0"/>
            </a:br>
            <a:r>
              <a:rPr lang="en-IN" dirty="0"/>
              <a:t>Foundation for the proposed visual explanations of model predictions.</a:t>
            </a:r>
            <a:br>
              <a:rPr lang="en-IN" dirty="0"/>
            </a:br>
            <a:r>
              <a:rPr lang="en-IN" dirty="0">
                <a:hlinkClick r:id="rId4"/>
              </a:rPr>
              <a:t>Research paper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Porwal et al. (2018) — </a:t>
            </a:r>
            <a:r>
              <a:rPr lang="en-IN" sz="2000" b="1" dirty="0" err="1"/>
              <a:t>IDRiD</a:t>
            </a:r>
            <a:r>
              <a:rPr lang="en-IN" sz="2000" b="1" dirty="0"/>
              <a:t> Dataset</a:t>
            </a:r>
            <a:br>
              <a:rPr lang="en-IN" dirty="0"/>
            </a:br>
            <a:r>
              <a:rPr lang="en-IN" dirty="0"/>
              <a:t>Retinal images with annotations for DR grading and lesion segmentation; a resource for planned validation.</a:t>
            </a:r>
            <a:br>
              <a:rPr lang="en-IN" dirty="0"/>
            </a:br>
            <a:r>
              <a:rPr lang="en-IN" dirty="0">
                <a:hlinkClick r:id="rId5"/>
              </a:rPr>
              <a:t>Dataset paper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APTOS (2019) — Blindness Detection Dataset</a:t>
            </a:r>
            <a:br>
              <a:rPr lang="en-IN" sz="2000" dirty="0"/>
            </a:br>
            <a:r>
              <a:rPr lang="en-IN" dirty="0"/>
              <a:t>Public retinal-image dataset for DR classification research.</a:t>
            </a:r>
            <a:br>
              <a:rPr lang="en-IN" dirty="0"/>
            </a:br>
            <a:r>
              <a:rPr lang="en-IN" dirty="0">
                <a:hlinkClick r:id="rId6"/>
              </a:rPr>
              <a:t>Dataset</a:t>
            </a:r>
            <a:r>
              <a:rPr lang="en-IN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Vital 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7592</TotalTime>
  <Words>502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NetraXAI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AJAY BISHT</cp:lastModifiedBy>
  <cp:revision>154</cp:revision>
  <dcterms:created xsi:type="dcterms:W3CDTF">2013-12-12T18:46:50Z</dcterms:created>
  <dcterms:modified xsi:type="dcterms:W3CDTF">2026-09-30T08:19:45Z</dcterms:modified>
  <cp:category/>
</cp:coreProperties>
</file>